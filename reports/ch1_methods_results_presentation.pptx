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Chapter 1 Methods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Current ASIC analysis: stand-alone methods/results presentation for the true cluster-result bundle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88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82496"/>
            <a:ext cx="6400800" cy="23774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Review the frozen Chapter 1 design choices and exact operational implementation.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Show how hospitals, stays, rows, and labels are retained or dropped.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Summarize the current ASIC baseline, hard-case, and horizon results from cluster-results.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Keep all interpretation measurement-bound to the recorded feature set, charting process, and temporal aggregation.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44752"/>
            <a:ext cx="37947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490472"/>
            <a:ext cx="370332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Talk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1883664"/>
            <a:ext cx="357530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PhD framing, proposal alignment, or thesis storyline.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biological subtype claims, causal claims, or irreducible-randomness claims.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Empirical source priority: cluster-results over older local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49039"/>
            <a:ext cx="1783080" cy="11704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3822191"/>
            <a:ext cx="1600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Retained stays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4005071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6,446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4361687"/>
            <a:ext cx="1600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Current ASIC retained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3749039"/>
            <a:ext cx="1783080" cy="11704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3822191"/>
            <a:ext cx="1600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test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4005071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33,676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4361687"/>
            <a:ext cx="1600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Binary-evaluable test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This is a bounded review of near-term in-ICU mortality risk structure under the current ASIC representation, not a generic mortality-prediction talk.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ch1_methods_results_deck_overview.md; chapter1_analysis_spec_frozen_v1.md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Frozen Study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Frozen v1 analysis contract before ASIC result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34440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1280160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Development dataset: ASIC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External-validation target: MIMIC-IV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This deck shows ASIC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234440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280160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73352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Primary outcome: in-ICU mortality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Hard-case analysis is defined on fatal stays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event-timed death label is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234440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1" y="1280160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Horizons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673352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Primary: 24h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Main contrast: 48h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Sensitivities: 8h, 16h, 72h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2761488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807208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Patient-time prediction instances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Completed 8h blocks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Operational first-stay ICU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2761488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5112" y="2807208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Baseline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00400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Logistic regression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XGBoost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Calibration-aware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761488"/>
            <a:ext cx="361188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4151" y="2807208"/>
            <a:ext cx="35204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Explicit non-claims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3200400"/>
            <a:ext cx="33924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biological death classes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irreducible stochasticity claim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causal attribution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core scientific choices were frozen early enough that later ASIC findings can be read against a stable design contract rather than a post hoc analysis setup.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chapter1_analysis_spec_frozen_v1.md; phase1_working_reference.md; ch1_run_config.json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Cohort Construction And Exclusions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From standardized ASIC input to the retained Chapter 1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078992"/>
            <a:ext cx="3749039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1124712"/>
            <a:ext cx="3657599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Exact cohort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17904"/>
            <a:ext cx="35295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Adult ICU stays with mechanical ventilation &gt;=24h.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First ICU stay via readmission = 0 proxy.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Valid in-ICU mortality label and &gt;=1 valid prediction instance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Aptos Display"/>
              </a:rPr>
              <a:t>Input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8 hospitals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15,969 stays</a:t>
            </a:r>
          </a:p>
        </p:txBody>
      </p:sp>
      <p:sp>
        <p:nvSpPr>
          <p:cNvPr id="10" name="Chevron 9"/>
          <p:cNvSpPr/>
          <p:nvPr/>
        </p:nvSpPr>
        <p:spPr>
          <a:xfrm>
            <a:off x="2862072" y="2807208"/>
            <a:ext cx="310896" cy="310896"/>
          </a:xfrm>
          <a:prstGeom prst="chevron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35808" y="2514600"/>
            <a:ext cx="214884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Aptos Display"/>
              </a:rPr>
              <a:t>Site-eligible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4 hospitals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8,769 stays</a:t>
            </a:r>
          </a:p>
        </p:txBody>
      </p:sp>
      <p:sp>
        <p:nvSpPr>
          <p:cNvPr id="12" name="Chevron 11"/>
          <p:cNvSpPr/>
          <p:nvPr/>
        </p:nvSpPr>
        <p:spPr>
          <a:xfrm>
            <a:off x="5257800" y="2807208"/>
            <a:ext cx="310896" cy="310896"/>
          </a:xfrm>
          <a:prstGeom prst="chevron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31536" y="2514600"/>
            <a:ext cx="214884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Aptos Display"/>
              </a:rPr>
              <a:t>After mech_vent_ge_24h_qc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6,558 stays</a:t>
            </a:r>
          </a:p>
        </p:txBody>
      </p:sp>
      <p:sp>
        <p:nvSpPr>
          <p:cNvPr id="14" name="Chevron 13"/>
          <p:cNvSpPr/>
          <p:nvPr/>
        </p:nvSpPr>
        <p:spPr>
          <a:xfrm>
            <a:off x="7653528" y="2807208"/>
            <a:ext cx="310896" cy="310896"/>
          </a:xfrm>
          <a:prstGeom prst="chevron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27264" y="2514600"/>
            <a:ext cx="214884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93B"/>
                </a:solidFill>
                <a:latin typeface="Aptos Display"/>
              </a:rPr>
              <a:t>Final retained</a:t>
            </a:r>
          </a:p>
          <a:p>
            <a:pPr algn="ctr"/>
            <a:r>
              <a:rPr sz="1600" b="1">
                <a:solidFill>
                  <a:srgbClr val="0F766E"/>
                </a:solidFill>
                <a:latin typeface="Aptos"/>
              </a:rPr>
              <a:t>6,446 stays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078992"/>
            <a:ext cx="1664208" cy="23591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0" y="1124712"/>
            <a:ext cx="1572768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Site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2408" y="1517904"/>
            <a:ext cx="1444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Include hospital only if ICU mortality is usable.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Require at least 3 of 4 core physiologic groups with dynamic coverage.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Excluded hospitals: asic_UK00, UK01, UK03, UK06.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49808" y="3931920"/>
          <a:ext cx="4069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Hospital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Retained stays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3,034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074920" y="3822191"/>
            <a:ext cx="3090672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3867911"/>
            <a:ext cx="2999232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Major stay-level gates after site restriction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4261103"/>
            <a:ext cx="287121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Upstream mech_vent_ge_24h_qc is the main within-site drop mechanism.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Readmission = 0 is the operational first-stay proxy.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retained stay fails the saved cohort verification checks.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3822191"/>
            <a:ext cx="3328416" cy="1783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85047" y="3867911"/>
            <a:ext cx="3236976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What to say aloud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5" y="4261103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Most contraction happens before modeling, at explicit site and stay eligibility steps.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This is a site-restricted ASIC cohort, not every standardized ASIC hospital.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retained cohort is shaped primarily by explicit site eligibility and stay-level gating, so any result should be read relative to this restricted analytic population.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chapter1_site_eligibility.csv; chapter1_counts_by_hospital.csv; chapter1_cohort_summary.csv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Time Representation, Valid-Instance Rule, And Proxy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Row construction and labelability are part of the analysis design, not just preprocessing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115568"/>
            <a:ext cx="42062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1161288"/>
            <a:ext cx="411480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Valid prediction-instance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986784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Completed 8h blocks are the time grid.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Patient must still be alive and in ICU at prediction time.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At least 3 of 4 core physiologic groups must be observed in-block.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Rows remain only when horizon-specific labelability is unambiguous.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3401568"/>
            <a:ext cx="4206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" y="3447288"/>
            <a:ext cx="411480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Observed-data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98678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248,772 unique usable 8h blocks before horizon duplication.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69.4% with all 4 core groups observed.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30.6% with exactly 3 of 4.</a:t>
            </a:r>
          </a:p>
        </p:txBody>
      </p:sp>
      <p:pic>
        <p:nvPicPr>
          <p:cNvPr id="12" name="Picture 11" descr="slide04_labe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36715"/>
            <a:ext cx="6720840" cy="23923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3968496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labelable/unlabeled burden by horizon plus positive prevalence among labelable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4251960"/>
            <a:ext cx="6748272" cy="13533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E293B"/>
                </a:solidFill>
                <a:latin typeface="Aptos"/>
              </a:rPr>
              <a:t>Positive: icu_mortality = 1 and icu_end_time_proxy_hours in (t, t+H].</a:t>
            </a:r>
          </a:p>
          <a:p>
            <a:r>
              <a:rPr sz="1100">
                <a:solidFill>
                  <a:srgbClr val="1E293B"/>
                </a:solidFill>
                <a:latin typeface="Aptos"/>
              </a:rPr>
              <a:t>Negative: icu_mortality = 0 and icu_end_time_proxy_hours &gt;= t+H.</a:t>
            </a:r>
          </a:p>
          <a:p>
            <a:r>
              <a:rPr sz="1100">
                <a:solidFill>
                  <a:srgbClr val="1E293B"/>
                </a:solidFill>
                <a:latin typeface="Aptos"/>
              </a:rPr>
              <a:t>Otherwise unlabeled; 24h counts are 231,596 labelable, 4,986 positive, 226,610 negative, 78,048 unlabeled.</a:t>
            </a:r>
          </a:p>
          <a:p>
            <a:r>
              <a:rPr sz="1100">
                <a:solidFill>
                  <a:srgbClr val="1E293B"/>
                </a:solidFill>
                <a:latin typeface="Aptos"/>
              </a:rPr>
              <a:t>ASIC does not provide true death/discharge timestamps, so these are proxy within-horizon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C2410C"/>
                </a:solidFill>
                <a:latin typeface="Aptos"/>
              </a:rPr>
              <a:t>Caveat: </a:t>
            </a:r>
            <a:r>
              <a:rPr sz="1100">
                <a:solidFill>
                  <a:srgbClr val="1E293B"/>
                </a:solidFill>
                <a:latin typeface="Aptos"/>
              </a:rPr>
              <a:t>Both row retention and labelability are shaped by current-block measurement coverage plus the proxy ICU-end-time rule, so the analyzed row set is intentionally restrictive.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label_logic_audit.md; chapter1_cohort_summary.csv; chapter1_observation_process_qc_summary.csv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Frozen Modeling Design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Feature boundary, preprocessing policy, split strategy, baselines, and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170432"/>
            <a:ext cx="274320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1216152"/>
            <a:ext cx="26517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Feature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9344"/>
            <a:ext cx="252374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Primary feature set: 31 routine variables.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Extended set adds 15 sparse-lab variables.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Model-ready export selects 186 blocked dynamic columns.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98 LOCF/missingness indicator columns are appended.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170432"/>
            <a:ext cx="274320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2152" y="1216152"/>
            <a:ext cx="26517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Preprocessing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09344"/>
            <a:ext cx="252374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Bounded LOCF only for pre-specified families.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Ventilator LOCF only within ventilation-supported windows.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final imputation in preprocessing export.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Downstream imputation is deferred to model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170432"/>
            <a:ext cx="251460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2" y="1216152"/>
            <a:ext cx="24231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Split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09344"/>
            <a:ext cx="2295144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Target 70 / 15 / 15.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Operational split unit: stay_id_global.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Splitting within retained hospitals.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Frozen seed: 20260327.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9992" y="1170432"/>
            <a:ext cx="2578608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25712" y="1216152"/>
            <a:ext cx="2487168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Baselines and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609344"/>
            <a:ext cx="2359152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Baselines: logistic regression and XGBoost.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Metrics: AUROC, AUPRC, intercept, slope, Brier.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Calibration is a gating issue before hard-case interpretation.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401568"/>
            <a:ext cx="196596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74720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Model-ready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57600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1,142,533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01421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Across 5 horizons and 3 splits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52928" y="3401568"/>
            <a:ext cx="196596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3474720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Base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3657600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401421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Frozen primary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10912" y="3401568"/>
            <a:ext cx="196596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3474720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Selected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657600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186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1421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Blocked dynamic feature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8896" y="3401568"/>
            <a:ext cx="196596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3474720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3657600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0336" y="401421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LOCF and missingness indicators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401568"/>
            <a:ext cx="1965960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474720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Export imputation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657600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01421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Deferred to training stage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" y="4773168"/>
            <a:ext cx="10607040" cy="1051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" y="4818888"/>
            <a:ext cx="1051560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Operational caveat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212080"/>
            <a:ext cx="1038758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frozen intent is first-stay analysis, but ASIC lacks patient identifiers, so splitting remains stay-level after first-stay proxy filtering.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design intentionally exposes missingness and emphasizes calibration-aware baselines rather than relying on aggressive feature engineering or a large model zoo.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ch1_feature_sets.json; chapter1_primary_readiness_summary.csv; preprocessing_interface.md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Retained Cohort And Realized Split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Current ASIC run scale and the realized internal split balance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78992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1965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Retained stays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35024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6,446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965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Final Chapter 1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078992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152144"/>
            <a:ext cx="1965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Valid instances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335024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1,548,220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91640"/>
            <a:ext cx="1965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Across all five horizons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078992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152144"/>
            <a:ext cx="1965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Per 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335024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309,644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691640"/>
            <a:ext cx="1965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Before labelability filtering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078992"/>
            <a:ext cx="214884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152144"/>
            <a:ext cx="1965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test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335024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33,676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691640"/>
            <a:ext cx="19659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With 752 positives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078992"/>
            <a:ext cx="1965960" cy="12618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152144"/>
            <a:ext cx="17830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Test stays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335024"/>
            <a:ext cx="1783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967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91640"/>
            <a:ext cx="17830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26.78% stay mortality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60604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Realized stay split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5216" y="2834640"/>
          <a:ext cx="4983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Stays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Mortality+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Stay mortality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4,511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26.76%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26.76%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806440" y="260604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24h row-level split summary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742432" y="28346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24h rows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24h positives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24h event rate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33,676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162,269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35,651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31520" y="4736592"/>
            <a:ext cx="103784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782312"/>
            <a:ext cx="1028700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What this changes relative to the synthetic local bundle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175504"/>
            <a:ext cx="101589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current ASIC package is a full-scale internal run with a binary-evaluable test split.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Main-deck performance numbers can therefore be reported on test rather than falling back to validation.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current ASIC bundle is a real internal evaluation package, not a local smoke-test artifact, which materially changes how performance slides should be read.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chapter1_cohort_summary.csv; chapter1_stay_split_summary.csv; chapter1_primary_split_summary.csv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Baseline Model Performance And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Headline quantitative baseline results on the true test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pic>
        <p:nvPicPr>
          <p:cNvPr id="6" name="Picture 5" descr="slide07_bas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37988"/>
            <a:ext cx="5943600" cy="2115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2303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test AUROC and calibration slope across horizons for logistic regression and 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11556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24h test metrics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389888"/>
          <a:ext cx="4892034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62"/>
                <a:gridCol w="698862"/>
                <a:gridCol w="698862"/>
                <a:gridCol w="698862"/>
                <a:gridCol w="698862"/>
                <a:gridCol w="698862"/>
                <a:gridCol w="698862"/>
              </a:tblGrid>
              <a:tr h="5547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Events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AUROC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AUPRC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Brier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33,676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73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33,676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56832" y="3291840"/>
            <a:ext cx="48463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02552" y="3337560"/>
            <a:ext cx="475488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Readout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730752"/>
            <a:ext cx="462686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Logistic regression: AUROC 0.819, AUPRC 0.268, slope 0.974, Brier 0.0186.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XGBoost: AUROC 0.848, AUPRC 0.318, slope 1.162, Brier 0.1351.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XGBoost ranks better; logistic regression remains the cleaner probability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ranking-versus-calibration tradeoff is real in this ASIC run: XGBoost discriminates better, while logistic regression is the more stable anchor for calibration-first hard-case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combined_metrics.csv; reporting_split_summary.csv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Primary 24h Mortality-Vs-Risk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Logistic regression at the frozen primary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pic>
        <p:nvPicPr>
          <p:cNvPr id="6" name="Picture 5" descr="mortality_vs_risk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13" y="1078992"/>
            <a:ext cx="5115197" cy="4736592"/>
          </a:xfrm>
          <a:prstGeom prst="rect">
            <a:avLst/>
          </a:prstGeom>
        </p:spPr>
      </p:pic>
      <p:pic>
        <p:nvPicPr>
          <p:cNvPr id="7" name="Picture 6" descr="reliability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1703333"/>
            <a:ext cx="4041648" cy="34879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5760720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24h observed mortality across risk bins for logistic regression on the test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5760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24h reliability 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At 24h the logistic model preserves coherent risk ordering with acceptable calibration, which makes the hard-case analysis interpretable as a bounded descriptive exercise.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horizon_24h/mortality_vs_risk_plot.png; horizon_24h/reliability_plot.png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Hard-Case Definition And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Operational rule and resulting low-predicted fatal burden by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78992"/>
            <a:ext cx="3886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124712"/>
            <a:ext cx="37947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Frozen hard-case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17904"/>
            <a:ext cx="366674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Rule: asic_logistic_last_eligible_nonfatal_q75_v1.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Collapse to one last eligible stay-level point per stay and horizon.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Mark fatal stays as hard cases if predicted risk is below the nonfatal q75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999232"/>
            <a:ext cx="17373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72384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fatal stays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55264"/>
            <a:ext cx="1554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1,682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15544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Last eligible stay-level slice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999232"/>
            <a:ext cx="17373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3072384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hard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255264"/>
            <a:ext cx="1554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346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611880"/>
            <a:ext cx="15544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Low-predicted fatal stays</a:t>
            </a:r>
          </a:p>
        </p:txBody>
      </p:sp>
      <p:pic>
        <p:nvPicPr>
          <p:cNvPr id="17" name="Picture 16" descr="slide09_hard_case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71714"/>
            <a:ext cx="6812280" cy="35007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6320" y="495604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hard-case share among fatal stays across the frozen horizon grid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3232" y="4407408"/>
          <a:ext cx="36576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Q75 threshold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Under the frozen logistic rule, low-predicted fatal stays are a substantial minority of fatal stays at every horizon rather than a rare edge case.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horizon_hard_case_summary.csv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24h Hard-Case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Low-predicted fatal stays versus other fatal stays at the primary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pic>
        <p:nvPicPr>
          <p:cNvPr id="6" name="Picture 5" descr="effect_size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5612"/>
            <a:ext cx="7909560" cy="45251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115568"/>
            <a:ext cx="288036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1161288"/>
            <a:ext cx="278892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24h stay-level slice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0808" y="1554480"/>
            <a:ext cx="266090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Fatal stays: 1,682.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Low-predicted fatal: 346.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Other fatal: 1,336.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487168"/>
            <a:ext cx="2880360" cy="18470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2532888"/>
            <a:ext cx="278892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Strongest differences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2926080"/>
            <a:ext cx="26609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Prediction time: 176 [96, 310] (n=346) vs 232 [96, 456] (n=1336).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MAP: 81.0 [68.3, 92.2] (n=336) vs 58.1 [38.4, 71.0] (n=1306).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PF ratio: 277.7 [204.7, 344.4] (n=224) vs 172.3 [111.3, 257.5] (n=1009).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PEEP: 9.3 [6.5, 10.2] (n=263) vs 10.1 [8.0, 12.2] (n=1186).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4526280"/>
            <a:ext cx="2880360" cy="12344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4572000"/>
            <a:ext cx="278892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Bounded subgroup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4965192"/>
            <a:ext cx="266090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Hospital: asic_UK02: 27 (8%); asic_UK04: 37 (11%); asic_UK07: 161 (47%); asic_UK08: 121 (35%).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Disease group: surgical / postoperative / trauma-related: 191 (55%); respiratory / pulmonary: 127 (37%); infection / sepsis non-pulmonary: 2 (1%); cardiovascular: 17 (5%); neurologic: 7 (2%); other / mixed / uncategorized: 2 (1%).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Exact age is unavailable; age_group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Low-predicted fatal stays look less aligned with captured short-term physiologic severity, but this remains a descriptive operational comparison rather than a typology of death.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effect_size_figure.png; comparison_table.csv; asic_hard_case_comparison_variable_audit_memo.md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Horizon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Does the hard-case burden survive across the frozen horizon grid?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pic>
        <p:nvPicPr>
          <p:cNvPr id="6" name="Picture 5" descr="mortality_risk_horiz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0" y="1078992"/>
            <a:ext cx="10440996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48656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mortality-versus-risk structure across 8h, 16h, 24h, 48h, and 72h horizons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449824"/>
            <a:ext cx="224028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522976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Mean pairwise Jaccard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05856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0.828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62472"/>
            <a:ext cx="2057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Across all horizon pairs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5449824"/>
            <a:ext cx="224028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5522976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vs 48h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5705856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0.885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6062472"/>
            <a:ext cx="2057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Hard-case overlap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2976" y="5449824"/>
            <a:ext cx="224028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5522976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24h vs 72h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5705856"/>
            <a:ext cx="2057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0.824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6062472"/>
            <a:ext cx="2057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Hard-case overlap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5449824"/>
            <a:ext cx="160020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5522976"/>
            <a:ext cx="1417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75569"/>
                </a:solidFill>
                <a:latin typeface="Aptos"/>
              </a:rPr>
              <a:t>Manifest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5705856"/>
            <a:ext cx="1417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Aptos Display"/>
              </a:rPr>
              <a:t>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6062472"/>
            <a:ext cx="14173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  <a:latin typeface="Aptos"/>
              </a:rPr>
              <a:t>Current saved 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5394960"/>
            <a:ext cx="1874519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84080" y="5440680"/>
            <a:ext cx="1783079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5833872"/>
            <a:ext cx="1655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figure is descriptive.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It does not redefine the hard-case rule.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current ASIC outputs support a descriptive persistence read: the hard-case burden changes little across horizons and cross-horizon membership overlap remains high.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mortality_risk_horizon_comparison.png; pairwise_overlap.csv; final/run_manifest.json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Secondary Robustness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Cross-model agreement is mature; temporal aggregation remains provisional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78992"/>
            <a:ext cx="388620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124712"/>
            <a:ext cx="37947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Cross-model agreement at 24h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17904"/>
            <a:ext cx="3666744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Logistic hard: 346.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XGBoost-Platt hard: 227.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Overlap: 188.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Jaccard: 0.488.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54% of logistic hard cases are confirmed by XGBoost-Platt.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88620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880360"/>
            <a:ext cx="379476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Temporal preview: 8h vs 16h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73552"/>
            <a:ext cx="36667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Logistic 24h AUROC 0.819 -&gt; 0.816; AUPRC 0.268 -&gt; 0.235.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XGBoost 24h AUROC 0.848 -&gt; 0.846; AUPRC 0.318 -&gt; 0.291.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Encouraging, but still only a preview rather than a formal sensitivity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3886200" cy="10789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764024"/>
            <a:ext cx="37947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Site sanity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157216"/>
            <a:ext cx="3666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Pooled 24h result is not obviously driven by one hospital.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Site-level calibration is still much sparser and more variable than pooled results.</a:t>
            </a:r>
          </a:p>
        </p:txBody>
      </p:sp>
      <p:pic>
        <p:nvPicPr>
          <p:cNvPr id="15" name="Picture 14" descr="primary_24h_sit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56" y="1005840"/>
            <a:ext cx="6156887" cy="4892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58064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24h site-stratified logistic overview for the test 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Robustness is mixed rather than all-or-none: horizon persistence is strong, cross-model agreement is only moderate, and temporal aggregation has an encouraging but incomplete preview.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horizon_hard_case_agreement_summary.csv; primary_24h_site_overview.png; aggregation_comparison_metrics.csv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Current Bounded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Most defensible technical readout of the current ASIC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52144"/>
            <a:ext cx="53492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197864"/>
            <a:ext cx="525780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Supported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512978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ASIC supports heterogeneous predictability under the observed feature set.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Logistic 24h risk is a usable calibration-aware anchor for hard-case definition.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About one-fifth of fatal stays are low-predicted under the frozen logistic rule.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low-predicted fatal burden persists descriptively across the frozen horizons.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Hard cases are operational and measurement-bound, not ontological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152144"/>
            <a:ext cx="5285232" cy="4480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1928" y="1197864"/>
            <a:ext cx="5193792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Explicit non-claims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1591056"/>
            <a:ext cx="506577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biological death subtype claim.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claim that these deaths are inherently or irreducibly unpredictable.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causal explanation for why cases are low-predicted.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claim that hard-case membership is model-invariant at patient level.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external-transport claim, because MIMIC results are not available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defensible claim is about heterogeneous predictability under this recorded representation; the deck should not slide into subtype language or deeper causal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context_sprint4.md; chapter1_analysis_spec_frozen_v1.md; hard-case comparison summary.md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Open Limitations And Pending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What still blocks a more closed ASIC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766E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5349240" cy="4526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143000"/>
            <a:ext cx="525780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36192"/>
            <a:ext cx="5129784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ASIC lacks true death and ICU-discharge timestamps for within-horizon labels.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Rows are shaped by valid-instance and labelability gates, not just model fitting.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Splitting remains stay-level because ASIC lacks patient identifiers.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24h hard-case package lacks exact age; age_group only is available.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Several comparison proxies depend on partial coverage or bounded LOCF.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Some older markdown interpretation memos still contain stale preliminary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097280"/>
            <a:ext cx="54406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1143000"/>
            <a:ext cx="53492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Pending sensitivity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496" y="1536192"/>
            <a:ext cx="5221224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Observation-process hard-case comparison.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Treatment-limitation sensitivity or a formal explicit absence note.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Formal temporal-aggregation sensitivity beyond the current preview.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Disease-stratified predictability analyses.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MIMIC external validation and transportability 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C2410C"/>
                </a:solidFill>
                <a:latin typeface="Aptos"/>
              </a:rPr>
              <a:t>Caveat: </a:t>
            </a:r>
            <a:r>
              <a:rPr sz="1100">
                <a:solidFill>
                  <a:srgbClr val="1E293B"/>
                </a:solidFill>
                <a:latin typeface="Aptos"/>
              </a:rPr>
              <a:t>The current ASIC package is strong enough for a bounded methods/results presentation, but it is not yet closed on the key interpretation-critical sensitivities.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label_logic_audit.md; asic_hard_case_comparison_variable_audit_memo.md; preview_note.md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A1 — Full Metrics By Model And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Test-split metrics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Logistic regression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225296"/>
          <a:ext cx="53492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655"/>
                <a:gridCol w="668655"/>
                <a:gridCol w="668655"/>
                <a:gridCol w="668655"/>
                <a:gridCol w="668655"/>
                <a:gridCol w="668655"/>
                <a:gridCol w="668655"/>
                <a:gridCol w="668655"/>
              </a:tblGrid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Events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AUROC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AUPRC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Brier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34,356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0.0063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34,029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0.0124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33,676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0.0186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32,559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0.0371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72h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0.0544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91072" y="9875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XGBoost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6208" y="1225296"/>
          <a:ext cx="54406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5"/>
                <a:gridCol w="680085"/>
                <a:gridCol w="680085"/>
                <a:gridCol w="680085"/>
                <a:gridCol w="680085"/>
                <a:gridCol w="680085"/>
                <a:gridCol w="680085"/>
                <a:gridCol w="680085"/>
              </a:tblGrid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Rows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Events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AUROC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AUPRC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Brier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34,356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0.1072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34,029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0.1236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33,676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0.1351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32,559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1.141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0.1554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72h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31,448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2,144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0.1662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ranking-versus-calibration tradeoff is consistent across horizons rather than being unique to 24h.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combined_metrics.csv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A2 — Site-Stratified 24h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Backup view for pooled 24h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pic>
        <p:nvPicPr>
          <p:cNvPr id="6" name="Picture 5" descr="primary_24h_sit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47" y="1051560"/>
            <a:ext cx="609934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064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24h site overview for logistic regression on the test split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1325880"/>
          <a:ext cx="3840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768096"/>
                <a:gridCol w="768096"/>
                <a:gridCol w="768096"/>
                <a:gridCol w="768096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Hospital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Events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AUROC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AUPRC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1.528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1.233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asic_UK08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3703320"/>
            <a:ext cx="38404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3749040"/>
            <a:ext cx="37490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Backup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4142232"/>
            <a:ext cx="362102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All four retained hospitals have evaluable 24h test metrics.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Site-level calibration varies more than pooled calibration and should stay secondary.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pooled 24h signal is not obviously driven by a single hospital, but site-level inference should remain cautious because counts are much smaller than in the pooled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primary_24h_site_overview.png; combined_primary_site_summary.csv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A3 — Cross-Model Hard-Case Agreement By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Logistic regression versus XGBoost-Platt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1371600"/>
          <a:ext cx="6720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68"/>
                <a:gridCol w="1344168"/>
                <a:gridCol w="1344168"/>
                <a:gridCol w="1344168"/>
                <a:gridCol w="1344168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Logistic hard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XGB-Platt hard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Overlap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Jaccard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16h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72h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353312"/>
            <a:ext cx="3429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0" y="1399032"/>
            <a:ext cx="33375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24h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1792224"/>
            <a:ext cx="32095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Jaccard 0.488 at 24h.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188 stays are hard in both models.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Broader burden is more stable than exact patient-level membership.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980944"/>
            <a:ext cx="342900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3026664"/>
            <a:ext cx="333756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Pattern across horizons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419856"/>
            <a:ext cx="32095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Agreement improves somewhat at longer horizons.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It remains well short of model invariance.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This weakens decomposition-style claims more than the descriptive hard-case burden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Cross-model overlap is meaningful but incomplete, so patient-level hard-case membership should be treated as model-sensitive.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horizon_hard_case_agreement_summary.csv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A4 — Variable Audit For The 24h Hard-Case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Availability and proxy-readiness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207008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Completeness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293B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Not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0/1,682 exact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Only age_group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Sex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1,682/1,682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Static join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Disease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1,682/1,682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Hierarchy-sensitive ICD bag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Prediction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1,682/1,682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Hours from ICU admission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Respiratory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1,233/1,682 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Current-block PF when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Hemodynamic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 with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1,642/1,682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MAP cleaner than vasopressor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1,650/1,682 creatinine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Major LOCF 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Ventilation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1,449/1,682 PEEP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E293B"/>
                          </a:solidFill>
                          <a:latin typeface="Aptos"/>
                        </a:rPr>
                        <a:t>Mostly current-block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486400"/>
            <a:ext cx="10789920" cy="7132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925312"/>
            <a:ext cx="10570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comparison variable package is usable, but it is not a complete clinical adjustment set and exact age remains unavailable in the current ASIC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asic_hard_case_comparison_variable_audit_memo.md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A5 — Why SOFA Was Not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SOFA feasibility audit for the 24h fatal-stay slice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36576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188720"/>
            <a:ext cx="356616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Missing standard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81912"/>
            <a:ext cx="343814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GCS / CNS field.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vasopressor variables in the model-ready layer.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No urine-output field for renal SOFA.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Standard SOFA scoring therefore cannot be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143000"/>
            <a:ext cx="356616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3128" y="1188720"/>
            <a:ext cx="347472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Available but 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1581912"/>
            <a:ext cx="334670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Respiratory scorable in 73%.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Platelets 92%, but heavily LOCF-based.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Bilirubin 71%, with major 48h LOCF dependence.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Creatinine 98%, but 65% depends on 48h LOCF.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143000"/>
            <a:ext cx="33832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2168" y="1188720"/>
            <a:ext cx="329184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Complete-case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1581912"/>
            <a:ext cx="3163824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Only 244/1,682 (15%) complete cases with current-block values.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825/1,682 (49%) even after LOCF.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Coverage is structured, not plausibly MCAR.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03320"/>
            <a:ext cx="10058400" cy="1463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E293B"/>
                </a:solidFill>
                <a:latin typeface="Aptos"/>
              </a:rPr>
              <a:t>Respiratory scorable in 73%; coagulation 92% but largely LOCF-based.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293B"/>
                </a:solidFill>
                <a:latin typeface="Aptos"/>
              </a:rPr>
              <a:t>Liver is 71% available, with 51% depending on 48h LOCF.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293B"/>
                </a:solidFill>
                <a:latin typeface="Aptos"/>
              </a:rPr>
              <a:t>MAP is 98% available, but standard vasopressor inputs are absent.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293B"/>
                </a:solidFill>
                <a:latin typeface="Aptos"/>
              </a:rPr>
              <a:t>No GCS field and no urine output field were found.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293B"/>
                </a:solidFill>
                <a:latin typeface="Aptos"/>
              </a:rPr>
              <a:t>Complete-case coverage across partially represented organs is 49% even after LOCF.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A direct proxy table is cleaner and more reproducible than an incomplete pseudo-SOFA built from missing standard domains.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sofa_feasibility_memo.md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A6 — Observation-Process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Instrumentation exists; the explanatory sensitivity analysis does not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15568"/>
            <a:ext cx="466344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" y="1161288"/>
            <a:ext cx="4572000" cy="329184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Derived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554480"/>
            <a:ext cx="444398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obs_hr_grp_block, obs_bp_grp_block, obs_resp_grp_block, obs_oxy_grp_block.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n_core_grps_obs_block.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tsl_hr_grp_h, tsl_bp_grp_h, tsl_resp_grp_h, tsl_oxy_grp_h.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Block-level export is unique before horizon duplication.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32120" y="123444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Comment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Usable 8h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248,772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Core groups observed =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69.4%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Core groups observed =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Median TSL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0.25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near-real-time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Median TSL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0.25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near-real-time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Median TSL Resp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0.50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less dense than HR/BP/Oxy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Median TSL 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0.25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near-real-time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6656" y="3886200"/>
            <a:ext cx="10515600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" y="3931920"/>
            <a:ext cx="1042416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Current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325112"/>
            <a:ext cx="1029614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Observation-process variables are derived and QC'd, but no saved hard-case comparison using them is present in the current result bundle.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That means the instrumentation is ready while the interpretation-critical sensitivity result remains pending.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Observation-process confounding remains an open interpretive risk because readiness is documented but the actual sensitivity result is still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chapter1_observation_process_qc_summary.csv; chapter1_observation_process_implementation_note.md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293B"/>
                </a:solidFill>
                <a:latin typeface="Aptos Display"/>
              </a:rPr>
              <a:t>Appendix A7 — Temporal Aggregation Preview: 8h Vs 16h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640080"/>
            <a:ext cx="9875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Aptos"/>
              </a:rPr>
              <a:t>Provisional backup slide, not a formal sensitivity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274320"/>
            <a:ext cx="11430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2410C"/>
                </a:solidFill>
                <a:latin typeface="Aptos"/>
              </a:rPr>
              <a:t>Appendix</a:t>
            </a:r>
          </a:p>
        </p:txBody>
      </p:sp>
      <p:pic>
        <p:nvPicPr>
          <p:cNvPr id="6" name="Picture 5" descr="logistic_regression_24h_mortality_vs_risk_8h_vs_16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1566"/>
            <a:ext cx="7086600" cy="3226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48640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Figure: logistic 24h mortality-vs-risk structure under 8h versus 16h aggregation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18120" y="1325880"/>
          <a:ext cx="3657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731520"/>
                <a:gridCol w="73152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AUROC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AUPRC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Brier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Logistic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0.819 -&gt; 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0.268 -&gt; 0.235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0.974 -&gt; 0.974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0.019 -&gt; 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0.848 -&gt; 0.846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0.318 -&gt; 0.291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1.162 -&gt; 1.175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E293B"/>
                          </a:solidFill>
                          <a:latin typeface="Aptos"/>
                        </a:rPr>
                        <a:t>0.135 -&gt; 0.136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3127248"/>
            <a:ext cx="365760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3172968"/>
            <a:ext cx="3566160" cy="329184"/>
          </a:xfrm>
          <a:prstGeom prst="roundRect">
            <a:avLst/>
          </a:prstGeom>
          <a:solidFill>
            <a:srgbClr val="FED7AA"/>
          </a:solidFill>
          <a:ln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1E293B"/>
                </a:solidFill>
                <a:latin typeface="Aptos"/>
              </a:rPr>
              <a:t>Preview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3566160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Maximum absolute AUROC delta across comparable holdout pairs: 0.018.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Maximum absolute AUPRC delta: 0.066.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The preview does not choose an optimal aggregation and should not refreeze the design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6199632"/>
            <a:ext cx="11265408" cy="4114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F766E"/>
                </a:solidFill>
                <a:latin typeface="Aptos"/>
              </a:rPr>
              <a:t>Interpretation: </a:t>
            </a:r>
            <a:r>
              <a:rPr sz="1100">
                <a:solidFill>
                  <a:srgbClr val="1E293B"/>
                </a:solidFill>
                <a:latin typeface="Aptos"/>
              </a:rPr>
              <a:t>The early temporal preview shows movement without obvious collapse, which is encouraging but still too narrow to close the temporal-sensitivity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4748B"/>
                </a:solidFill>
                <a:latin typeface="Aptos"/>
              </a:rPr>
              <a:t>Source: logistic_regression_24h_mortality_vs_risk_8h_vs_16h.png; aggregation_comparison_metrics.csv; preview_note.md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A7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